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60" r:id="rId7"/>
    <p:sldId id="262" r:id="rId8"/>
    <p:sldId id="265" r:id="rId9"/>
    <p:sldId id="267" r:id="rId10"/>
    <p:sldId id="269" r:id="rId11"/>
    <p:sldId id="270" r:id="rId12"/>
    <p:sldId id="271" r:id="rId13"/>
    <p:sldId id="272" r:id="rId14"/>
    <p:sldId id="273" r:id="rId15"/>
    <p:sldId id="275" r:id="rId16"/>
    <p:sldId id="277" r:id="rId17"/>
    <p:sldId id="279" r:id="rId18"/>
    <p:sldId id="295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B906C-9D60-8001-6FA7-017BDD864066}" v="31" dt="2025-12-15T16:12:01.317"/>
    <p1510:client id="{21AFE989-41B8-8BC9-2DA6-E9ED72577911}" v="57" dt="2025-12-15T16:11:15.368"/>
    <p1510:client id="{58B47D99-04CD-493C-A5E4-747F63108CD1}" v="1" dt="2025-12-15T14:40:33.624"/>
    <p1510:client id="{B6AAF224-19A8-F0A7-1902-1273FBCFDF2F}" v="137" dt="2025-12-15T16:12:31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Sistema de Gestión de Taller Mecánico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t>Proyecto de Desarrollo de Software</a:t>
            </a:r>
            <a:br/>
            <a:br/>
            <a:r>
              <a:t>Juan Pablo Maldonado Huenulef</a:t>
            </a:r>
            <a:br/>
            <a:r>
              <a:t>Maximiliano Javier Beltrán Barrueto</a:t>
            </a:r>
            <a:br/>
            <a:r>
              <a:t>Marcos Ignacio Villarroel Solís</a:t>
            </a:r>
            <a:br/>
            <a:r>
              <a:t>Benjamín Manuel Ignacio Moreira Arias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Diciembre 2025</a:t>
            </a:r>
          </a:p>
        </p:txBody>
      </p:sp>
      <p:pic>
        <p:nvPicPr>
          <p:cNvPr id="8" name="Imagen 7" descr="INACAP: Carreras y cursos de pregrado - Learn Chile">
            <a:extLst>
              <a:ext uri="{FF2B5EF4-FFF2-40B4-BE49-F238E27FC236}">
                <a16:creationId xmlns:a16="http://schemas.microsoft.com/office/drawing/2014/main" id="{87063635-7C93-FA2D-6593-FB21A701F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6961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¿Qué es el sistema?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El Sistema de Gestión de Taller Mecánico es una aplicación web que permite:</a:t>
            </a:r>
          </a:p>
          <a:p>
            <a:pPr lvl="0"/>
            <a:r>
              <a:rPr err="1"/>
              <a:t>Gestionar</a:t>
            </a:r>
            <a:r>
              <a:t> </a:t>
            </a:r>
            <a:r>
              <a:rPr err="1"/>
              <a:t>clientes</a:t>
            </a:r>
            <a:r>
              <a:t> y sus </a:t>
            </a:r>
            <a:r>
              <a:rPr err="1"/>
              <a:t>datos</a:t>
            </a:r>
            <a:r>
              <a:t> de </a:t>
            </a:r>
            <a:r>
              <a:rPr err="1"/>
              <a:t>contacto</a:t>
            </a:r>
          </a:p>
          <a:p>
            <a:pPr lvl="0"/>
            <a:r>
              <a:t>Registrar </a:t>
            </a:r>
            <a:r>
              <a:rPr err="1"/>
              <a:t>vehículos</a:t>
            </a:r>
            <a:r>
              <a:t> y </a:t>
            </a:r>
            <a:r>
              <a:rPr err="1"/>
              <a:t>su</a:t>
            </a:r>
            <a:r>
              <a:t> </a:t>
            </a:r>
            <a:r>
              <a:rPr err="1"/>
              <a:t>historial</a:t>
            </a:r>
            <a:r>
              <a:t> de </a:t>
            </a:r>
            <a:r>
              <a:rPr err="1"/>
              <a:t>servicios</a:t>
            </a:r>
          </a:p>
          <a:p>
            <a:pPr lvl="0"/>
            <a:r>
              <a:t>Crear </a:t>
            </a:r>
            <a:r>
              <a:rPr err="1"/>
              <a:t>órdenes</a:t>
            </a:r>
            <a:r>
              <a:t> de </a:t>
            </a:r>
            <a:r>
              <a:rPr err="1"/>
              <a:t>trabajo</a:t>
            </a:r>
            <a:r>
              <a:t> y </a:t>
            </a:r>
            <a:r>
              <a:rPr err="1"/>
              <a:t>servicio</a:t>
            </a:r>
          </a:p>
          <a:p>
            <a:pPr lvl="0"/>
            <a:r>
              <a:rPr err="1"/>
              <a:t>Generar</a:t>
            </a:r>
            <a:r>
              <a:t> </a:t>
            </a:r>
            <a:r>
              <a:rPr err="1"/>
              <a:t>cotizaciones</a:t>
            </a:r>
            <a:r>
              <a:t> </a:t>
            </a:r>
            <a:r>
              <a:rPr err="1"/>
              <a:t>profesionales</a:t>
            </a:r>
            <a:r>
              <a:t> con PDF</a:t>
            </a:r>
          </a:p>
          <a:p>
            <a:pPr lvl="0"/>
            <a:r>
              <a:rPr err="1"/>
              <a:t>Adjuntar</a:t>
            </a:r>
            <a:r>
              <a:t> </a:t>
            </a:r>
            <a:r>
              <a:rPr err="1"/>
              <a:t>documentos</a:t>
            </a:r>
            <a:r>
              <a:t> y </a:t>
            </a:r>
            <a:r>
              <a:rPr err="1"/>
              <a:t>fotos</a:t>
            </a:r>
            <a:r>
              <a:t> a </a:t>
            </a:r>
            <a:r>
              <a:rPr err="1"/>
              <a:t>los</a:t>
            </a:r>
            <a:r>
              <a:t> </a:t>
            </a:r>
            <a:r>
              <a:rPr err="1"/>
              <a:t>servicios</a:t>
            </a:r>
          </a:p>
          <a:p>
            <a:pPr lvl="0"/>
            <a:r>
              <a:rPr err="1"/>
              <a:t>Enviar</a:t>
            </a:r>
            <a:r>
              <a:t> </a:t>
            </a:r>
            <a:r>
              <a:rPr err="1"/>
              <a:t>cotizaciones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correo</a:t>
            </a:r>
            <a:r>
              <a:t> </a:t>
            </a:r>
            <a:r>
              <a:rPr err="1"/>
              <a:t>electrónico</a:t>
            </a:r>
          </a:p>
          <a:p>
            <a:pPr marL="0" lvl="0" indent="0">
              <a:buNone/>
            </a:pPr>
            <a:r>
              <a:rPr b="1"/>
              <a:t>Objetivo:</a:t>
            </a:r>
            <a:r>
              <a:t> Centralizar y automatizar todas las operaciones administrativas de un taller automotriz.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2F4ECC5E-7D2A-53B7-BDB7-568AFCCD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Antes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err="1"/>
              <a:t>Registros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papel</a:t>
            </a:r>
            <a:r>
              <a:t> o Excel </a:t>
            </a:r>
            <a:r>
              <a:rPr err="1"/>
              <a:t>desorganizados</a:t>
            </a:r>
            <a:endParaRPr lang="en-US" err="1">
              <a:ea typeface="Calibri"/>
              <a:cs typeface="Calibri"/>
            </a:endParaRPr>
          </a:p>
          <a:p>
            <a:r>
              <a:rPr err="1"/>
              <a:t>Pérdida</a:t>
            </a:r>
            <a:r>
              <a:t> de </a:t>
            </a:r>
            <a:r>
              <a:rPr err="1"/>
              <a:t>información</a:t>
            </a:r>
            <a:r>
              <a:t> de </a:t>
            </a:r>
            <a:r>
              <a:rPr err="1"/>
              <a:t>clientes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WhatsApp</a:t>
            </a:r>
            <a:endParaRPr>
              <a:ea typeface="Calibri"/>
              <a:cs typeface="Calibri"/>
            </a:endParaRPr>
          </a:p>
          <a:p>
            <a:r>
              <a:rPr err="1"/>
              <a:t>Cotizaciones</a:t>
            </a:r>
            <a:r>
              <a:t> </a:t>
            </a:r>
            <a:r>
              <a:rPr err="1"/>
              <a:t>hechas</a:t>
            </a:r>
            <a:r>
              <a:t> </a:t>
            </a:r>
            <a:r>
              <a:rPr err="1"/>
              <a:t>manualmente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 Excel</a:t>
            </a:r>
            <a:endParaRPr>
              <a:ea typeface="Calibri"/>
              <a:cs typeface="Calibri"/>
            </a:endParaRPr>
          </a:p>
          <a:p>
            <a:pPr lvl="0"/>
            <a:r>
              <a:t>No hay </a:t>
            </a:r>
            <a:r>
              <a:rPr err="1"/>
              <a:t>historial</a:t>
            </a:r>
            <a:r>
              <a:t> de </a:t>
            </a:r>
            <a:r>
              <a:rPr err="1"/>
              <a:t>servicios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vehículo</a:t>
            </a:r>
            <a:endParaRPr err="1">
              <a:ea typeface="Calibri"/>
              <a:cs typeface="Calibri"/>
            </a:endParaRPr>
          </a:p>
          <a:p>
            <a:pPr lvl="0"/>
            <a:r>
              <a:rPr err="1"/>
              <a:t>Dificultad</a:t>
            </a:r>
            <a:r>
              <a:t> para </a:t>
            </a:r>
            <a:r>
              <a:rPr err="1"/>
              <a:t>hacer</a:t>
            </a:r>
            <a:r>
              <a:t> </a:t>
            </a:r>
            <a:r>
              <a:rPr err="1"/>
              <a:t>seguimiento</a:t>
            </a:r>
            <a:r>
              <a:t> de </a:t>
            </a:r>
            <a:r>
              <a:rPr err="1"/>
              <a:t>trabajos</a:t>
            </a:r>
            <a:endParaRPr err="1">
              <a:ea typeface="Calibri"/>
              <a:cs typeface="Calibri"/>
            </a:endParaRP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E6A8632D-972F-AA0A-D7CB-EC451314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Tecnologías Utilizadas</a:t>
            </a:r>
          </a:p>
        </p:txBody>
      </p:sp>
      <p:pic>
        <p:nvPicPr>
          <p:cNvPr id="4" name="Imagen 3" descr="INACAP: Carreras y cursos de pregrado - Learn Chile">
            <a:extLst>
              <a:ext uri="{FF2B5EF4-FFF2-40B4-BE49-F238E27FC236}">
                <a16:creationId xmlns:a16="http://schemas.microsoft.com/office/drawing/2014/main" id="{ABC55F88-77B2-1FCA-5975-4F0CB3541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Arquitectura y Módulos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/>
              <a:t>Patrón:</a:t>
            </a:r>
            <a:r>
              <a:t> Modelo-Vista-Template (MVT) de Django</a:t>
            </a:r>
          </a:p>
          <a:p>
            <a:pPr marL="0" lvl="0" indent="0">
              <a:buNone/>
            </a:pPr>
            <a:r>
              <a:rPr b="1"/>
              <a:t>Módulos principales:</a:t>
            </a:r>
          </a:p>
          <a:p>
            <a:pPr lvl="0"/>
            <a:r>
              <a:t>Módulo Clientes</a:t>
            </a:r>
          </a:p>
          <a:p>
            <a:pPr lvl="0"/>
            <a:r>
              <a:t>Módulo Vehículos</a:t>
            </a:r>
          </a:p>
          <a:p>
            <a:pPr lvl="0"/>
            <a:r>
              <a:t>Módulo Servicios</a:t>
            </a:r>
          </a:p>
          <a:p>
            <a:pPr lvl="0"/>
            <a:r>
              <a:t>Módulo Cotizaciones</a:t>
            </a:r>
          </a:p>
          <a:p>
            <a:pPr marL="0" lvl="0" indent="0">
              <a:buNone/>
            </a:pPr>
            <a:r>
              <a:rPr b="1"/>
              <a:t>Flujo:</a:t>
            </a:r>
          </a:p>
          <a:p>
            <a:pPr marL="0" lvl="0" indent="0">
              <a:buNone/>
            </a:pPr>
            <a:r>
              <a:t>Interfaz Web → Django Framework → Base de Datos MySQL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BF9B2FCB-E8D3-2A90-8B30-BA3E2D7B6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Gestión de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Funcionalidades:</a:t>
            </a:r>
          </a:p>
          <a:p>
            <a:pPr lvl="0"/>
            <a:r>
              <a:t>Registro con validación de RUT</a:t>
            </a:r>
          </a:p>
          <a:p>
            <a:pPr lvl="0"/>
            <a:r>
              <a:t>Búsqueda en tiempo real</a:t>
            </a:r>
          </a:p>
          <a:p>
            <a:pPr lvl="0"/>
            <a:r>
              <a:t>Edición de datos de contacto</a:t>
            </a:r>
          </a:p>
          <a:p>
            <a:pPr lvl="0"/>
            <a:r>
              <a:t>Eliminación lógica (soft delete)</a:t>
            </a:r>
          </a:p>
          <a:p>
            <a:pPr lvl="0"/>
            <a:r>
              <a:t>Reactivación de clientes inactivos</a:t>
            </a:r>
          </a:p>
          <a:p>
            <a:pPr marL="0" lvl="0" indent="0">
              <a:buNone/>
            </a:pPr>
            <a:r>
              <a:rPr b="1"/>
              <a:t>Campos:</a:t>
            </a:r>
          </a:p>
          <a:p>
            <a:pPr lvl="0"/>
            <a:r>
              <a:t>Nombre, RUT, Teléfono, Email, Contacto, Dirección</a:t>
            </a:r>
          </a:p>
          <a:p>
            <a:pPr marL="0" lvl="0" indent="0">
              <a:buNone/>
            </a:pPr>
            <a:r>
              <a:rPr b="1"/>
              <a:t>Validación:</a:t>
            </a:r>
          </a:p>
          <a:p>
            <a:pPr lvl="0"/>
            <a:r>
              <a:t>Solo el nombre es obligatorio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E32E8C68-F1C3-DBF4-F428-15CD6EAD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Gestión de Vehículos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/>
              <a:t>Funcionalidades:</a:t>
            </a:r>
          </a:p>
          <a:p>
            <a:pPr lvl="0"/>
            <a:r>
              <a:t>Registro asociado a clientes</a:t>
            </a:r>
          </a:p>
          <a:p>
            <a:pPr lvl="0"/>
            <a:r>
              <a:t>Búsqueda por patente o cliente</a:t>
            </a:r>
          </a:p>
          <a:p>
            <a:pPr lvl="0"/>
            <a:r>
              <a:t>Validación de patentes únicas</a:t>
            </a:r>
          </a:p>
          <a:p>
            <a:pPr lvl="0"/>
            <a:r>
              <a:t>Historial completo de servicios</a:t>
            </a:r>
          </a:p>
          <a:p>
            <a:pPr lvl="0"/>
            <a:r>
              <a:t>Vista detallada por vehículo</a:t>
            </a:r>
          </a:p>
          <a:p>
            <a:pPr marL="0" lvl="0" indent="0">
              <a:buNone/>
            </a:pPr>
            <a:r>
              <a:rPr b="1"/>
              <a:t>Relación:</a:t>
            </a:r>
          </a:p>
          <a:p>
            <a:pPr lvl="0"/>
            <a:r>
              <a:t>Un cliente puede tener múltiples vehículos</a:t>
            </a:r>
          </a:p>
          <a:p>
            <a:pPr lvl="0"/>
            <a:r>
              <a:t>Cada vehículo pertenece a un solo cliente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D93626F3-E44E-6875-B52D-778408CB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Módulo de Servicios</a:t>
            </a:r>
          </a:p>
        </p:txBody>
      </p:sp>
      <p:pic>
        <p:nvPicPr>
          <p:cNvPr id="4" name="Imagen 3" descr="INACAP: Carreras y cursos de pregrado - Learn Chile">
            <a:extLst>
              <a:ext uri="{FF2B5EF4-FFF2-40B4-BE49-F238E27FC236}">
                <a16:creationId xmlns:a16="http://schemas.microsoft.com/office/drawing/2014/main" id="{F6586B12-5924-9D94-81C2-2A757C595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Órdenes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/>
              <a:t>Funcionalidades:</a:t>
            </a:r>
          </a:p>
          <a:p>
            <a:pPr lvl="0"/>
            <a:r>
              <a:t>Crear servicios para vehículos específicos</a:t>
            </a:r>
          </a:p>
          <a:p>
            <a:pPr lvl="0"/>
            <a:r>
              <a:t>Estados: Pendiente, En Proceso, Completado, Cancelado</a:t>
            </a:r>
          </a:p>
          <a:p>
            <a:pPr lvl="0"/>
            <a:r>
              <a:t>Adjuntar documentos (PDF, Word, Excel - máx. 10 MB)</a:t>
            </a:r>
          </a:p>
          <a:p>
            <a:pPr lvl="0"/>
            <a:r>
              <a:t>Adjuntar fotos con optimización (máx. 5 MB c/u)</a:t>
            </a:r>
          </a:p>
          <a:p>
            <a:pPr lvl="0"/>
            <a:r>
              <a:t>Cálculo automático del total</a:t>
            </a:r>
          </a:p>
          <a:p>
            <a:pPr lvl="0"/>
            <a:r>
              <a:t>Asociación con cotizaciones</a:t>
            </a:r>
          </a:p>
          <a:p>
            <a:pPr marL="0" lvl="0" indent="0">
              <a:buNone/>
            </a:pPr>
            <a:r>
              <a:rPr b="1"/>
              <a:t>Documentos:</a:t>
            </a:r>
          </a:p>
          <a:p>
            <a:pPr lvl="0"/>
            <a:r>
              <a:t>Tipos: Factura, Boleta, Certificado, Presupuesto, Informe, Otro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B9029BED-A6EC-CAF2-63EF-9C46FE32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r>
              <a:rPr err="1"/>
              <a:t>Módulo</a:t>
            </a:r>
            <a:r>
              <a:t> de </a:t>
            </a:r>
            <a:r>
              <a:rPr err="1"/>
              <a:t>Cotizaciones</a:t>
            </a:r>
            <a:endParaRPr lang="en-US" err="1">
              <a:ea typeface="Calibri"/>
              <a:cs typeface="Calibri"/>
            </a:endParaRPr>
          </a:p>
        </p:txBody>
      </p:sp>
      <p:pic>
        <p:nvPicPr>
          <p:cNvPr id="4" name="Imagen 3" descr="INACAP: Carreras y cursos de pregrado - Learn Chile">
            <a:extLst>
              <a:ext uri="{FF2B5EF4-FFF2-40B4-BE49-F238E27FC236}">
                <a16:creationId xmlns:a16="http://schemas.microsoft.com/office/drawing/2014/main" id="{170B5EDE-32AB-9914-C84B-B7A73EB0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Generación de Cotizaciones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Características:</a:t>
            </a:r>
          </a:p>
          <a:p>
            <a:pPr lvl="0"/>
            <a:r>
              <a:t>Creación desde servicio o independiente</a:t>
            </a:r>
          </a:p>
          <a:p>
            <a:pPr lvl="0"/>
            <a:r>
              <a:t>Organización por categorías de ítems</a:t>
            </a:r>
          </a:p>
          <a:p>
            <a:pPr lvl="0"/>
            <a:r>
              <a:t>Cálculo automático: Subtotal, IVA (19%), Total</a:t>
            </a:r>
          </a:p>
          <a:p>
            <a:pPr lvl="0"/>
            <a:r>
              <a:t>Estados: Pendiente, Aprobada, Rechazada</a:t>
            </a:r>
          </a:p>
          <a:p>
            <a:pPr lvl="0"/>
            <a:r>
              <a:t>Términos de pago configurables</a:t>
            </a:r>
          </a:p>
          <a:p>
            <a:pPr lvl="0"/>
            <a:r>
              <a:t>Numeración automática</a:t>
            </a:r>
          </a:p>
          <a:p>
            <a:pPr marL="0" lvl="0" indent="0">
              <a:buNone/>
            </a:pPr>
            <a:r>
              <a:rPr b="1"/>
              <a:t>Datos personalizables:</a:t>
            </a:r>
          </a:p>
          <a:p>
            <a:pPr lvl="0"/>
            <a:r>
              <a:t>Empresa: Nombre, RUT, Giro, Dirección, etc.</a:t>
            </a:r>
          </a:p>
          <a:p>
            <a:pPr lvl="0"/>
            <a:r>
              <a:t>Cliente: Precargados desde servicio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2A1C29FD-57BA-017B-65F0-47B1551A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Gestión de Cotizaciones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/>
              <a:t>Funcionalidades avanzadas:</a:t>
            </a:r>
          </a:p>
          <a:p>
            <a:pPr lvl="0"/>
            <a:r>
              <a:t>Generación de PDF profesional</a:t>
            </a:r>
          </a:p>
          <a:p>
            <a:pPr lvl="0"/>
            <a:r>
              <a:t>Envío por correo electrónico</a:t>
            </a:r>
          </a:p>
          <a:p>
            <a:pPr lvl="0"/>
            <a:r>
              <a:t>Duplicación de cotizaciones</a:t>
            </a:r>
          </a:p>
          <a:p>
            <a:pPr lvl="0"/>
            <a:r>
              <a:t>Edición posterior</a:t>
            </a:r>
          </a:p>
          <a:p>
            <a:pPr lvl="0"/>
            <a:r>
              <a:t>Eliminación con recalculación</a:t>
            </a:r>
          </a:p>
          <a:p>
            <a:pPr marL="0" lvl="0" indent="0">
              <a:buNone/>
            </a:pPr>
            <a:r>
              <a:rPr b="1"/>
              <a:t>Ítems personalizables:</a:t>
            </a:r>
          </a:p>
          <a:p>
            <a:pPr lvl="0"/>
            <a:r>
              <a:t>Descripción, Cantidad, Precio Unitario</a:t>
            </a:r>
          </a:p>
          <a:p>
            <a:pPr lvl="0"/>
            <a:r>
              <a:t>Total por ítem automático</a:t>
            </a:r>
          </a:p>
          <a:p>
            <a:pPr lvl="0"/>
            <a:r>
              <a:t>Múltiples categorías</a:t>
            </a:r>
          </a:p>
          <a:p>
            <a:pPr marL="0" lvl="0" indent="0">
              <a:buNone/>
            </a:pPr>
            <a:r>
              <a:rPr b="1"/>
              <a:t>Términos:</a:t>
            </a:r>
          </a:p>
          <a:p>
            <a:pPr lvl="0"/>
            <a:r>
              <a:t>Forma de pago: Transferencia, Efectivo, Cheque, Tarjeta</a:t>
            </a:r>
          </a:p>
          <a:p>
            <a:pPr lvl="0"/>
            <a:r>
              <a:t>Plazo: Al contado, 15, 30, 45, 60, 90 días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504CFB62-63F6-698F-A02D-81096DEBB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Caracteristicas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Destacadas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/>
              <a:t>Interfaz:</a:t>
            </a:r>
          </a:p>
          <a:p>
            <a:pPr lvl="0"/>
            <a:r>
              <a:t>Diseño responsive (móviles y tablets)</a:t>
            </a:r>
          </a:p>
          <a:p>
            <a:pPr lvl="0"/>
            <a:r>
              <a:t>Tema claro y oscuro</a:t>
            </a:r>
          </a:p>
          <a:p>
            <a:pPr lvl="0"/>
            <a:r>
              <a:t>Menú lateral colapsable</a:t>
            </a:r>
          </a:p>
          <a:p>
            <a:pPr lvl="0"/>
            <a:r>
              <a:t>Búsquedas en tiempo real</a:t>
            </a:r>
          </a:p>
          <a:p>
            <a:pPr marL="0" lvl="0" indent="0">
              <a:buNone/>
            </a:pPr>
            <a:r>
              <a:rPr b="1"/>
              <a:t>Validaciones:</a:t>
            </a:r>
          </a:p>
          <a:p>
            <a:pPr lvl="0"/>
            <a:r>
              <a:t>Frontend y backend</a:t>
            </a:r>
          </a:p>
          <a:p>
            <a:pPr lvl="0"/>
            <a:r>
              <a:t>Mensajes descriptivos</a:t>
            </a:r>
          </a:p>
          <a:p>
            <a:pPr lvl="0"/>
            <a:r>
              <a:t>Validación de archivos</a:t>
            </a:r>
          </a:p>
          <a:p>
            <a:pPr marL="0" lvl="0" indent="0">
              <a:buNone/>
            </a:pPr>
            <a:r>
              <a:rPr b="1"/>
              <a:t>Automatizaciones:</a:t>
            </a:r>
          </a:p>
          <a:p>
            <a:pPr lvl="0"/>
            <a:r>
              <a:t>Cálculos matemáticos automáticos</a:t>
            </a:r>
          </a:p>
          <a:p>
            <a:pPr lvl="0"/>
            <a:r>
              <a:t>Numeración de cotizaciones</a:t>
            </a:r>
          </a:p>
          <a:p>
            <a:pPr lvl="0"/>
            <a:r>
              <a:t>Optimización de imágenes</a:t>
            </a:r>
          </a:p>
          <a:p>
            <a:pPr lvl="0"/>
            <a:r>
              <a:t>Actualización de totales en tiempo real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FED6057A-EECA-11A4-A0B0-C06B7D16C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Flujo Típico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Registrar Cliente</a:t>
            </a:r>
            <a:r>
              <a:t> - Ingresar datos básicos</a:t>
            </a:r>
          </a:p>
          <a:p>
            <a:pPr marL="342900" lvl="0" indent="-342900">
              <a:buAutoNum type="arabicPeriod"/>
            </a:pPr>
            <a:r>
              <a:rPr b="1"/>
              <a:t>Registrar Vehículo</a:t>
            </a:r>
            <a:r>
              <a:t> - Asociar al cliente</a:t>
            </a:r>
          </a:p>
          <a:p>
            <a:pPr marL="342900" lvl="0" indent="-342900">
              <a:buAutoNum type="arabicPeriod"/>
            </a:pPr>
            <a:r>
              <a:rPr b="1"/>
              <a:t>Crear Servicio</a:t>
            </a:r>
            <a:r>
              <a:t> - Describir trabajo a realizar</a:t>
            </a:r>
          </a:p>
          <a:p>
            <a:pPr marL="342900" lvl="0" indent="-342900">
              <a:buAutoNum type="arabicPeriod"/>
            </a:pPr>
            <a:r>
              <a:rPr b="1"/>
              <a:t>Adjuntar Documentos/Fotos</a:t>
            </a:r>
            <a:r>
              <a:t> - Evidencia del trabajo</a:t>
            </a:r>
          </a:p>
          <a:p>
            <a:pPr marL="342900" lvl="0" indent="-342900">
              <a:buAutoNum type="arabicPeriod"/>
            </a:pPr>
            <a:r>
              <a:rPr b="1"/>
              <a:t>Generar Cotización</a:t>
            </a:r>
            <a:r>
              <a:t> - Agregar ítems y precios</a:t>
            </a:r>
          </a:p>
          <a:p>
            <a:pPr marL="342900" lvl="0" indent="-342900">
              <a:buAutoNum type="arabicPeriod"/>
            </a:pPr>
            <a:r>
              <a:rPr b="1"/>
              <a:t>Generar PDF y Enviar</a:t>
            </a:r>
            <a:r>
              <a:t> - Documento profesional</a:t>
            </a: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FAC8A323-BE70-8100-76D4-6DE75510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err="1"/>
              <a:t>Logros</a:t>
            </a:r>
            <a:r>
              <a:t> </a:t>
            </a:r>
            <a:r>
              <a:rPr err="1"/>
              <a:t>Alcanzados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lvl="0" indent="0">
              <a:buNone/>
            </a:pPr>
            <a:r>
              <a:rPr b="1" err="1"/>
              <a:t>Logros</a:t>
            </a:r>
            <a:r>
              <a:rPr b="1"/>
              <a:t>:</a:t>
            </a:r>
          </a:p>
          <a:p>
            <a:pPr lvl="0"/>
            <a:r>
              <a:t>Sistema </a:t>
            </a:r>
            <a:r>
              <a:rPr err="1"/>
              <a:t>funcional</a:t>
            </a:r>
            <a:r>
              <a:t> y </a:t>
            </a:r>
            <a:r>
              <a:rPr err="1"/>
              <a:t>completo</a:t>
            </a:r>
            <a:endParaRPr/>
          </a:p>
          <a:p>
            <a:pPr lvl="0"/>
            <a:r>
              <a:rPr err="1"/>
              <a:t>Interfaz</a:t>
            </a:r>
            <a:r>
              <a:t> </a:t>
            </a:r>
            <a:r>
              <a:rPr err="1"/>
              <a:t>intuitiva</a:t>
            </a:r>
            <a:r>
              <a:t> y </a:t>
            </a:r>
            <a:r>
              <a:rPr err="1"/>
              <a:t>profesional</a:t>
            </a:r>
            <a:endParaRPr/>
          </a:p>
          <a:p>
            <a:pPr lvl="0"/>
            <a:r>
              <a:rPr err="1"/>
              <a:t>Documentación</a:t>
            </a:r>
            <a:r>
              <a:t> </a:t>
            </a:r>
            <a:r>
              <a:rPr err="1"/>
              <a:t>exhaustiva</a:t>
            </a:r>
            <a:endParaRPr/>
          </a:p>
          <a:p>
            <a:pPr lvl="0"/>
            <a:r>
              <a:t>Código </a:t>
            </a:r>
            <a:r>
              <a:rPr err="1"/>
              <a:t>limpio</a:t>
            </a:r>
            <a:r>
              <a:t> y </a:t>
            </a:r>
            <a:r>
              <a:rPr err="1"/>
              <a:t>mantenible</a:t>
            </a:r>
            <a:endParaRPr/>
          </a:p>
          <a:p>
            <a:pPr lvl="0"/>
            <a:r>
              <a:rPr err="1"/>
              <a:t>Pruebas</a:t>
            </a:r>
            <a:r>
              <a:t> </a:t>
            </a:r>
            <a:r>
              <a:rPr err="1"/>
              <a:t>exitosas</a:t>
            </a:r>
            <a:endParaRPr/>
          </a:p>
          <a:p>
            <a:pPr marL="0" lvl="0" indent="0">
              <a:buNone/>
            </a:pPr>
            <a:r>
              <a:rPr b="1"/>
              <a:t>Valor del </a:t>
            </a:r>
            <a:r>
              <a:rPr b="1" err="1"/>
              <a:t>proyecto</a:t>
            </a:r>
            <a:r>
              <a:rPr b="1"/>
              <a:t>:</a:t>
            </a:r>
          </a:p>
          <a:p>
            <a:pPr lvl="0"/>
            <a:r>
              <a:rPr err="1"/>
              <a:t>Solución</a:t>
            </a:r>
            <a:r>
              <a:t> real a </a:t>
            </a:r>
            <a:r>
              <a:rPr err="1"/>
              <a:t>problema</a:t>
            </a:r>
            <a:r>
              <a:t> de </a:t>
            </a:r>
            <a:r>
              <a:rPr err="1"/>
              <a:t>talleres</a:t>
            </a:r>
            <a:endParaRPr/>
          </a:p>
          <a:p>
            <a:pPr lvl="0"/>
            <a:r>
              <a:rPr err="1"/>
              <a:t>Automatización</a:t>
            </a:r>
            <a:r>
              <a:t> de </a:t>
            </a:r>
            <a:r>
              <a:rPr err="1"/>
              <a:t>procesos</a:t>
            </a:r>
            <a:endParaRPr/>
          </a:p>
          <a:p>
            <a:pPr lvl="0"/>
            <a:r>
              <a:t>Base </a:t>
            </a:r>
            <a:r>
              <a:rPr err="1"/>
              <a:t>sólida</a:t>
            </a:r>
            <a:r>
              <a:t> para </a:t>
            </a:r>
            <a:r>
              <a:rPr err="1"/>
              <a:t>ampliaciones</a:t>
            </a:r>
            <a:endParaRPr/>
          </a:p>
          <a:p>
            <a:pPr marL="0" lvl="0" indent="0">
              <a:buNone/>
            </a:pPr>
            <a:r>
              <a:rPr b="1" err="1"/>
              <a:t>Cumplimiento</a:t>
            </a:r>
            <a:r>
              <a:rPr b="1"/>
              <a:t>:</a:t>
            </a:r>
            <a:endParaRPr b="1">
              <a:ea typeface="Calibri"/>
              <a:cs typeface="Calibri"/>
            </a:endParaRPr>
          </a:p>
          <a:p>
            <a:pPr lvl="0"/>
            <a:r>
              <a:t>Sistema </a:t>
            </a:r>
            <a:r>
              <a:rPr err="1"/>
              <a:t>listo</a:t>
            </a:r>
            <a:r>
              <a:t> para </a:t>
            </a:r>
            <a:r>
              <a:rPr err="1"/>
              <a:t>producción</a:t>
            </a:r>
            <a:endParaRPr>
              <a:ea typeface="Calibri"/>
              <a:cs typeface="Calibri"/>
            </a:endParaRPr>
          </a:p>
        </p:txBody>
      </p:sp>
      <p:pic>
        <p:nvPicPr>
          <p:cNvPr id="5" name="Imagen 4" descr="INACAP: Carreras y cursos de pregrado - Learn Chile">
            <a:extLst>
              <a:ext uri="{FF2B5EF4-FFF2-40B4-BE49-F238E27FC236}">
                <a16:creationId xmlns:a16="http://schemas.microsoft.com/office/drawing/2014/main" id="{4B6F6E59-0A40-5466-AB97-8BB01585B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-366"/>
            <a:ext cx="1614855" cy="1444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68405A7E02FB44B607ADDAC53F26E7" ma:contentTypeVersion="8" ma:contentTypeDescription="Create a new document." ma:contentTypeScope="" ma:versionID="5f1c7b64e816fcf49605842436c1bfe8">
  <xsd:schema xmlns:xsd="http://www.w3.org/2001/XMLSchema" xmlns:xs="http://www.w3.org/2001/XMLSchema" xmlns:p="http://schemas.microsoft.com/office/2006/metadata/properties" xmlns:ns3="d6f644c8-ae77-41d5-aaac-1d39ed4d1573" xmlns:ns4="c11dd98f-f128-4872-866b-5bee94cb8d5f" targetNamespace="http://schemas.microsoft.com/office/2006/metadata/properties" ma:root="true" ma:fieldsID="0690b07df6f3a6f479857caa81ec9645" ns3:_="" ns4:_="">
    <xsd:import namespace="d6f644c8-ae77-41d5-aaac-1d39ed4d1573"/>
    <xsd:import namespace="c11dd98f-f128-4872-866b-5bee94cb8d5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644c8-ae77-41d5-aaac-1d39ed4d157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dd98f-f128-4872-866b-5bee94cb8d5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f644c8-ae77-41d5-aaac-1d39ed4d15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8D38C9-073C-4EAF-81C6-D3109DA5D180}">
  <ds:schemaRefs>
    <ds:schemaRef ds:uri="c11dd98f-f128-4872-866b-5bee94cb8d5f"/>
    <ds:schemaRef ds:uri="d6f644c8-ae77-41d5-aaac-1d39ed4d15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A80962-5A3B-4E61-A585-5095473AAA16}">
  <ds:schemaRefs>
    <ds:schemaRef ds:uri="c11dd98f-f128-4872-866b-5bee94cb8d5f"/>
    <ds:schemaRef ds:uri="d6f644c8-ae77-41d5-aaac-1d39ed4d15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FF260E-722A-4F1F-8612-FD55C41407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Sistema de Gestión de Taller Mecánico</vt:lpstr>
      <vt:lpstr>¿Qué es el sistema?</vt:lpstr>
      <vt:lpstr>Antes del sistema</vt:lpstr>
      <vt:lpstr>Tecnologías Utilizadas</vt:lpstr>
      <vt:lpstr>Arquitectura y Módulos</vt:lpstr>
      <vt:lpstr>Gestión de Clientes</vt:lpstr>
      <vt:lpstr>Gestión de Vehículos</vt:lpstr>
      <vt:lpstr>Módulo de Servicios</vt:lpstr>
      <vt:lpstr>Órdenes de Trabajo</vt:lpstr>
      <vt:lpstr>Módulo de Cotizaciones</vt:lpstr>
      <vt:lpstr>Generación de Cotizaciones</vt:lpstr>
      <vt:lpstr>Gestión de Cotizaciones</vt:lpstr>
      <vt:lpstr>Caracteristicas Destacadas</vt:lpstr>
      <vt:lpstr>Flujo Típico de Uso</vt:lpstr>
      <vt:lpstr>Logros Alcanzados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Taller Mecánico</dc:title>
  <dc:creator>Juan Pablo Maldonado Huenulef; Maximiliano Javier Beltrán Barrueto; Marcos Ignacio Villarroel Solís; Benjamín Manuel Ignacio Moreira Arias</dc:creator>
  <cp:keywords/>
  <cp:revision>2</cp:revision>
  <dcterms:created xsi:type="dcterms:W3CDTF">2025-12-14T21:31:52Z</dcterms:created>
  <dcterms:modified xsi:type="dcterms:W3CDTF">2025-12-16T02:40:33Z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Diciembre 2025</vt:lpwstr>
  </property>
  <property fmtid="{D5CDD505-2E9C-101B-9397-08002B2CF9AE}" pid="3" name="subtitle">
    <vt:lpwstr>Proyecto de Desarrollo de Software</vt:lpwstr>
  </property>
  <property fmtid="{D5CDD505-2E9C-101B-9397-08002B2CF9AE}" pid="4" name="ContentTypeId">
    <vt:lpwstr>0x010100E868405A7E02FB44B607ADDAC53F26E7</vt:lpwstr>
  </property>
</Properties>
</file>