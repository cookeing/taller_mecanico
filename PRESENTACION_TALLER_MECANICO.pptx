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5" Type="http://schemas.openxmlformats.org/officeDocument/2006/relationships/viewProps" Target="viewProps.xml" /><Relationship Id="rId4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7" Type="http://schemas.openxmlformats.org/officeDocument/2006/relationships/tableStyles" Target="tableStyles.xml" /><Relationship Id="rId4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Sistema de Gestión de Taller Mecánico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Proyecto de Desarrollo de Software</a:t>
            </a:r>
            <a:br/>
            <a:br/>
            <a:r>
              <a:rPr/>
              <a:t>Juan Pablo Maldonado Huenulef</a:t>
            </a:r>
            <a:br/>
            <a:r>
              <a:rPr/>
              <a:t>Maximiliano Javier Beltrán Barrueto</a:t>
            </a:r>
            <a:br/>
            <a:r>
              <a:rPr/>
              <a:t>Marcos Ignacio Villarroel Solís</a:t>
            </a:r>
            <a:br/>
            <a:r>
              <a:rPr/>
              <a:t>Benjamín Manuel Ignacio Moreira Arias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Diciembre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Introducción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¿Qué es el sistema?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Sistema de Gestión de Taller Mecánico es una aplicación web que permite:</a:t>
            </a:r>
          </a:p>
          <a:p>
            <a:pPr lvl="0"/>
            <a:r>
              <a:rPr/>
              <a:t>Gestionar clientes y sus datos de contacto</a:t>
            </a:r>
          </a:p>
          <a:p>
            <a:pPr lvl="0"/>
            <a:r>
              <a:rPr/>
              <a:t>Registrar vehículos y su historial de servicios</a:t>
            </a:r>
          </a:p>
          <a:p>
            <a:pPr lvl="0"/>
            <a:r>
              <a:rPr/>
              <a:t>Crear órdenes de trabajo y servicio</a:t>
            </a:r>
          </a:p>
          <a:p>
            <a:pPr lvl="0"/>
            <a:r>
              <a:rPr/>
              <a:t>Generar cotizaciones profesionales con PDF</a:t>
            </a:r>
          </a:p>
          <a:p>
            <a:pPr lvl="0"/>
            <a:r>
              <a:rPr/>
              <a:t>Adjuntar documentos y fotos a los servicios</a:t>
            </a:r>
          </a:p>
          <a:p>
            <a:pPr lvl="0"/>
            <a:r>
              <a:rPr/>
              <a:t>Enviar cotizaciones por correo electrónico</a:t>
            </a:r>
          </a:p>
          <a:p>
            <a:pPr lvl="0" indent="0" marL="0">
              <a:buNone/>
            </a:pPr>
            <a:r>
              <a:rPr b="1"/>
              <a:t>Objetivo:</a:t>
            </a:r>
            <a:r>
              <a:rPr/>
              <a:t> Centralizar y automatizar todas las operaciones administrativas de un taller automotriz.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Problemática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Antes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Registros en papel o Excel desorganizados</a:t>
            </a:r>
          </a:p>
          <a:p>
            <a:pPr lvl="0"/>
            <a:r>
              <a:rPr/>
              <a:t>Pérdida de información de clientes</a:t>
            </a:r>
          </a:p>
          <a:p>
            <a:pPr lvl="0"/>
            <a:r>
              <a:rPr/>
              <a:t>Cotizaciones hechas manualmente</a:t>
            </a:r>
          </a:p>
          <a:p>
            <a:pPr lvl="0"/>
            <a:r>
              <a:rPr/>
              <a:t>No hay historial de servicios por vehículo</a:t>
            </a:r>
          </a:p>
          <a:p>
            <a:pPr lvl="0"/>
            <a:r>
              <a:rPr/>
              <a:t>Dificultad para hacer seguimiento de trabajos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 nuestro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Información centralizada y segura</a:t>
            </a:r>
          </a:p>
          <a:p>
            <a:pPr lvl="0"/>
            <a:r>
              <a:rPr/>
              <a:t>Búsquedas rápidas por cliente o patente</a:t>
            </a:r>
          </a:p>
          <a:p>
            <a:pPr lvl="0"/>
            <a:r>
              <a:rPr/>
              <a:t>Cotizaciones automáticas con cálculo de IVA</a:t>
            </a:r>
          </a:p>
          <a:p>
            <a:pPr lvl="0"/>
            <a:r>
              <a:rPr/>
              <a:t>Historial completo por vehículo</a:t>
            </a:r>
          </a:p>
          <a:p>
            <a:pPr lvl="0"/>
            <a:r>
              <a:rPr/>
              <a:t>Seguimiento de estados de servicios y cotizaciones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Tecnologías Utilizadas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Stack Tecnológico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Backend:</a:t>
            </a:r>
          </a:p>
          <a:p>
            <a:pPr lvl="0"/>
            <a:r>
              <a:rPr/>
              <a:t>Python 3.13.0</a:t>
            </a:r>
          </a:p>
          <a:p>
            <a:pPr lvl="0"/>
            <a:r>
              <a:rPr/>
              <a:t>Django 4.2.25</a:t>
            </a:r>
          </a:p>
          <a:p>
            <a:pPr lvl="0" indent="0" marL="0">
              <a:buNone/>
            </a:pPr>
            <a:r>
              <a:rPr b="1"/>
              <a:t>Frontend:</a:t>
            </a:r>
          </a:p>
          <a:p>
            <a:pPr lvl="0"/>
            <a:r>
              <a:rPr/>
              <a:t>Bootstrap 5.3.2</a:t>
            </a:r>
          </a:p>
          <a:p>
            <a:pPr lvl="0"/>
            <a:r>
              <a:rPr/>
              <a:t>JavaScript (ES6+)</a:t>
            </a:r>
          </a:p>
          <a:p>
            <a:pPr lvl="0"/>
            <a:r>
              <a:rPr/>
              <a:t>CSS3 con sistema de temas</a:t>
            </a:r>
          </a:p>
          <a:p>
            <a:pPr lvl="0" indent="0" marL="0">
              <a:buNone/>
            </a:pPr>
            <a:r>
              <a:rPr b="1"/>
              <a:t>Base de Datos:</a:t>
            </a:r>
          </a:p>
          <a:p>
            <a:pPr lvl="0"/>
            <a:r>
              <a:rPr/>
              <a:t>MySQL 8.0</a:t>
            </a:r>
          </a:p>
          <a:p>
            <a:pPr lvl="0" indent="0" marL="0">
              <a:buNone/>
            </a:pPr>
            <a:r>
              <a:rPr b="1"/>
              <a:t>Herramientas:</a:t>
            </a:r>
          </a:p>
          <a:p>
            <a:pPr lvl="0"/>
            <a:r>
              <a:rPr/>
              <a:t>Git / GitHub</a:t>
            </a:r>
          </a:p>
          <a:p>
            <a:pPr lvl="0"/>
            <a:r>
              <a:rPr/>
              <a:t>Visual Studio Code</a:t>
            </a:r>
          </a:p>
          <a:p>
            <a:pPr lvl="0"/>
            <a:r>
              <a:rPr/>
              <a:t>Pillow (optimización de imágenes)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Arquitectura del Sistema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Arquitectura y Módulos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Patrón:</a:t>
            </a:r>
            <a:r>
              <a:rPr/>
              <a:t> Modelo-Vista-Template (MVT) de Django</a:t>
            </a:r>
          </a:p>
          <a:p>
            <a:pPr lvl="0" indent="0" marL="0">
              <a:buNone/>
            </a:pPr>
            <a:r>
              <a:rPr b="1"/>
              <a:t>Módulos principales:</a:t>
            </a:r>
          </a:p>
          <a:p>
            <a:pPr lvl="0"/>
            <a:r>
              <a:rPr/>
              <a:t>Módulo Clientes</a:t>
            </a:r>
          </a:p>
          <a:p>
            <a:pPr lvl="0"/>
            <a:r>
              <a:rPr/>
              <a:t>Módulo Vehículos</a:t>
            </a:r>
          </a:p>
          <a:p>
            <a:pPr lvl="0"/>
            <a:r>
              <a:rPr/>
              <a:t>Módulo Servicios</a:t>
            </a:r>
          </a:p>
          <a:p>
            <a:pPr lvl="0"/>
            <a:r>
              <a:rPr/>
              <a:t>Módulo Cotizaciones</a:t>
            </a:r>
          </a:p>
          <a:p>
            <a:pPr lvl="0" indent="0" marL="0">
              <a:buNone/>
            </a:pPr>
            <a:r>
              <a:rPr b="1"/>
              <a:t>Flujo:</a:t>
            </a:r>
          </a:p>
          <a:p>
            <a:pPr lvl="0" indent="0" marL="0">
              <a:buNone/>
            </a:pPr>
            <a:r>
              <a:rPr/>
              <a:t>Interfaz Web → Django Framework → Base de Datos MySQL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Módulo de Clientes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Gestión de Clientes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Funcionalidades:</a:t>
            </a:r>
          </a:p>
          <a:p>
            <a:pPr lvl="0"/>
            <a:r>
              <a:rPr/>
              <a:t>Registro con validación de RUT</a:t>
            </a:r>
          </a:p>
          <a:p>
            <a:pPr lvl="0"/>
            <a:r>
              <a:rPr/>
              <a:t>Búsqueda en tiempo real</a:t>
            </a:r>
          </a:p>
          <a:p>
            <a:pPr lvl="0"/>
            <a:r>
              <a:rPr/>
              <a:t>Edición de datos de contacto</a:t>
            </a:r>
          </a:p>
          <a:p>
            <a:pPr lvl="0"/>
            <a:r>
              <a:rPr/>
              <a:t>Eliminación lógica (soft delete)</a:t>
            </a:r>
          </a:p>
          <a:p>
            <a:pPr lvl="0"/>
            <a:r>
              <a:rPr/>
              <a:t>Reactivación de clientes inactivos</a:t>
            </a:r>
          </a:p>
          <a:p>
            <a:pPr lvl="0" indent="0" marL="0">
              <a:buNone/>
            </a:pPr>
            <a:r>
              <a:rPr b="1"/>
              <a:t>Campos:</a:t>
            </a:r>
          </a:p>
          <a:p>
            <a:pPr lvl="0"/>
            <a:r>
              <a:rPr/>
              <a:t>Nombre, RUT, Teléfono, Email, Contacto, Dirección</a:t>
            </a:r>
          </a:p>
          <a:p>
            <a:pPr lvl="0" indent="0" marL="0">
              <a:buNone/>
            </a:pPr>
            <a:r>
              <a:rPr b="1"/>
              <a:t>Validación:</a:t>
            </a:r>
          </a:p>
          <a:p>
            <a:pPr lvl="0"/>
            <a:r>
              <a:rPr/>
              <a:t>Solo el nombre es obligatorio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Módulo de Vehículos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Gestión de Vehículos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Funcionalidades:</a:t>
            </a:r>
          </a:p>
          <a:p>
            <a:pPr lvl="0"/>
            <a:r>
              <a:rPr/>
              <a:t>Registro asociado a clientes</a:t>
            </a:r>
          </a:p>
          <a:p>
            <a:pPr lvl="0"/>
            <a:r>
              <a:rPr/>
              <a:t>Búsqueda por patente o cliente</a:t>
            </a:r>
          </a:p>
          <a:p>
            <a:pPr lvl="0"/>
            <a:r>
              <a:rPr/>
              <a:t>Validación de patentes únicas</a:t>
            </a:r>
          </a:p>
          <a:p>
            <a:pPr lvl="0"/>
            <a:r>
              <a:rPr/>
              <a:t>Historial completo de servicios</a:t>
            </a:r>
          </a:p>
          <a:p>
            <a:pPr lvl="0"/>
            <a:r>
              <a:rPr/>
              <a:t>Vista detallada por vehículo</a:t>
            </a:r>
          </a:p>
          <a:p>
            <a:pPr lvl="0" indent="0" marL="0">
              <a:buNone/>
            </a:pPr>
            <a:r>
              <a:rPr b="1"/>
              <a:t>Relación:</a:t>
            </a:r>
          </a:p>
          <a:p>
            <a:pPr lvl="0"/>
            <a:r>
              <a:rPr/>
              <a:t>Un cliente puede tener múltiples vehículos</a:t>
            </a:r>
          </a:p>
          <a:p>
            <a:pPr lvl="0"/>
            <a:r>
              <a:rPr/>
              <a:t>Cada vehículo pertenece a un solo cliente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Módulo de Servicios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Órdenes de Trabajo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Funcionalidades:</a:t>
            </a:r>
          </a:p>
          <a:p>
            <a:pPr lvl="0"/>
            <a:r>
              <a:rPr/>
              <a:t>Crear servicios para vehículos específicos</a:t>
            </a:r>
          </a:p>
          <a:p>
            <a:pPr lvl="0"/>
            <a:r>
              <a:rPr/>
              <a:t>Estados: Pendiente, En Proceso, Completado, Cancelado</a:t>
            </a:r>
          </a:p>
          <a:p>
            <a:pPr lvl="0"/>
            <a:r>
              <a:rPr/>
              <a:t>Adjuntar documentos (PDF, Word, Excel - máx. 10 MB)</a:t>
            </a:r>
          </a:p>
          <a:p>
            <a:pPr lvl="0"/>
            <a:r>
              <a:rPr/>
              <a:t>Adjuntar fotos con optimización (máx. 5 MB c/u)</a:t>
            </a:r>
          </a:p>
          <a:p>
            <a:pPr lvl="0"/>
            <a:r>
              <a:rPr/>
              <a:t>Cálculo automático del total</a:t>
            </a:r>
          </a:p>
          <a:p>
            <a:pPr lvl="0"/>
            <a:r>
              <a:rPr/>
              <a:t>Asociación con cotizaciones</a:t>
            </a:r>
          </a:p>
          <a:p>
            <a:pPr lvl="0" indent="0" marL="0">
              <a:buNone/>
            </a:pPr>
            <a:r>
              <a:rPr b="1"/>
              <a:t>Documentos:</a:t>
            </a:r>
          </a:p>
          <a:p>
            <a:pPr lvl="0"/>
            <a:r>
              <a:rPr/>
              <a:t>Tipos: Factura, Boleta, Certificado, Presupuesto, Informe, Otro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Módulo de Cotizaciones (1)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Generación de Cotizaciones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Características:</a:t>
            </a:r>
          </a:p>
          <a:p>
            <a:pPr lvl="0"/>
            <a:r>
              <a:rPr/>
              <a:t>Creación desde servicio o independiente</a:t>
            </a:r>
          </a:p>
          <a:p>
            <a:pPr lvl="0"/>
            <a:r>
              <a:rPr/>
              <a:t>Organización por categorías de ítems</a:t>
            </a:r>
          </a:p>
          <a:p>
            <a:pPr lvl="0"/>
            <a:r>
              <a:rPr/>
              <a:t>Cálculo automático: Subtotal, IVA (19%), Total</a:t>
            </a:r>
          </a:p>
          <a:p>
            <a:pPr lvl="0"/>
            <a:r>
              <a:rPr/>
              <a:t>Estados: Pendiente, Aprobada, Rechazada</a:t>
            </a:r>
          </a:p>
          <a:p>
            <a:pPr lvl="0"/>
            <a:r>
              <a:rPr/>
              <a:t>Términos de pago configurables</a:t>
            </a:r>
          </a:p>
          <a:p>
            <a:pPr lvl="0"/>
            <a:r>
              <a:rPr/>
              <a:t>Numeración automática</a:t>
            </a:r>
          </a:p>
          <a:p>
            <a:pPr lvl="0" indent="0" marL="0">
              <a:buNone/>
            </a:pPr>
            <a:r>
              <a:rPr b="1"/>
              <a:t>Datos personalizables:</a:t>
            </a:r>
          </a:p>
          <a:p>
            <a:pPr lvl="0"/>
            <a:r>
              <a:rPr/>
              <a:t>Empresa: Nombre, RUT, Giro, Dirección, etc.</a:t>
            </a:r>
          </a:p>
          <a:p>
            <a:pPr lvl="0"/>
            <a:r>
              <a:rPr/>
              <a:t>Cliente: Precargados desde servicio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Módulo de Cotizaciones (2)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Gestión de Cotizaciones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Funcionalidades avanzadas:</a:t>
            </a:r>
          </a:p>
          <a:p>
            <a:pPr lvl="0"/>
            <a:r>
              <a:rPr/>
              <a:t>Generación de PDF profesional</a:t>
            </a:r>
          </a:p>
          <a:p>
            <a:pPr lvl="0"/>
            <a:r>
              <a:rPr/>
              <a:t>Envío por correo electrónico</a:t>
            </a:r>
          </a:p>
          <a:p>
            <a:pPr lvl="0"/>
            <a:r>
              <a:rPr/>
              <a:t>Duplicación de cotizaciones</a:t>
            </a:r>
          </a:p>
          <a:p>
            <a:pPr lvl="0"/>
            <a:r>
              <a:rPr/>
              <a:t>Edición posterior</a:t>
            </a:r>
          </a:p>
          <a:p>
            <a:pPr lvl="0"/>
            <a:r>
              <a:rPr/>
              <a:t>Eliminación con recalculación</a:t>
            </a:r>
          </a:p>
          <a:p>
            <a:pPr lvl="0" indent="0" marL="0">
              <a:buNone/>
            </a:pPr>
            <a:r>
              <a:rPr b="1"/>
              <a:t>Ítems personalizables:</a:t>
            </a:r>
          </a:p>
          <a:p>
            <a:pPr lvl="0"/>
            <a:r>
              <a:rPr/>
              <a:t>Descripción, Cantidad, Precio Unitario</a:t>
            </a:r>
          </a:p>
          <a:p>
            <a:pPr lvl="0"/>
            <a:r>
              <a:rPr/>
              <a:t>Total por ítem automático</a:t>
            </a:r>
          </a:p>
          <a:p>
            <a:pPr lvl="0"/>
            <a:r>
              <a:rPr/>
              <a:t>Múltiples categorías</a:t>
            </a:r>
          </a:p>
          <a:p>
            <a:pPr lvl="0" indent="0" marL="0">
              <a:buNone/>
            </a:pPr>
            <a:r>
              <a:rPr b="1"/>
              <a:t>Términos:</a:t>
            </a:r>
          </a:p>
          <a:p>
            <a:pPr lvl="0"/>
            <a:r>
              <a:rPr/>
              <a:t>Forma de pago: Transferencia, Efectivo, Cheque, Tarjeta</a:t>
            </a:r>
          </a:p>
          <a:p>
            <a:pPr lvl="0"/>
            <a:r>
              <a:rPr/>
              <a:t>Plazo: Al contado, 15, 30, 45, 60, 90 días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Características Destacadas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Funcionalidades Especiales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Interfaz:</a:t>
            </a:r>
          </a:p>
          <a:p>
            <a:pPr lvl="0"/>
            <a:r>
              <a:rPr/>
              <a:t>Diseño responsive (móviles y tablets)</a:t>
            </a:r>
          </a:p>
          <a:p>
            <a:pPr lvl="0"/>
            <a:r>
              <a:rPr/>
              <a:t>Tema claro y oscuro</a:t>
            </a:r>
          </a:p>
          <a:p>
            <a:pPr lvl="0"/>
            <a:r>
              <a:rPr/>
              <a:t>Menú lateral colapsable</a:t>
            </a:r>
          </a:p>
          <a:p>
            <a:pPr lvl="0"/>
            <a:r>
              <a:rPr/>
              <a:t>Búsquedas en tiempo real</a:t>
            </a:r>
          </a:p>
          <a:p>
            <a:pPr lvl="0" indent="0" marL="0">
              <a:buNone/>
            </a:pPr>
            <a:r>
              <a:rPr b="1"/>
              <a:t>Validaciones:</a:t>
            </a:r>
          </a:p>
          <a:p>
            <a:pPr lvl="0"/>
            <a:r>
              <a:rPr/>
              <a:t>Frontend y backend</a:t>
            </a:r>
          </a:p>
          <a:p>
            <a:pPr lvl="0"/>
            <a:r>
              <a:rPr/>
              <a:t>Mensajes descriptivos</a:t>
            </a:r>
          </a:p>
          <a:p>
            <a:pPr lvl="0"/>
            <a:r>
              <a:rPr/>
              <a:t>Validación de archivos</a:t>
            </a:r>
          </a:p>
          <a:p>
            <a:pPr lvl="0" indent="0" marL="0">
              <a:buNone/>
            </a:pPr>
            <a:r>
              <a:rPr b="1"/>
              <a:t>Automatizaciones:</a:t>
            </a:r>
          </a:p>
          <a:p>
            <a:pPr lvl="0"/>
            <a:r>
              <a:rPr/>
              <a:t>Cálculos matemáticos automáticos</a:t>
            </a:r>
          </a:p>
          <a:p>
            <a:pPr lvl="0"/>
            <a:r>
              <a:rPr/>
              <a:t>Numeración de cotizaciones</a:t>
            </a:r>
          </a:p>
          <a:p>
            <a:pPr lvl="0"/>
            <a:r>
              <a:rPr/>
              <a:t>Optimización de imágenes</a:t>
            </a:r>
          </a:p>
          <a:p>
            <a:pPr lvl="0"/>
            <a:r>
              <a:rPr/>
              <a:t>Actualización de totales en tiempo real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Flujo de Trabajo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Flujo Típico de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Registrar Cliente</a:t>
            </a:r>
            <a:r>
              <a:rPr/>
              <a:t> - Ingresar datos básicos</a:t>
            </a:r>
          </a:p>
          <a:p>
            <a:pPr lvl="0" indent="-342900" marL="342900">
              <a:buAutoNum type="arabicPeriod"/>
            </a:pPr>
            <a:r>
              <a:rPr b="1"/>
              <a:t>Registrar Vehículo</a:t>
            </a:r>
            <a:r>
              <a:rPr/>
              <a:t> - Asociar al cliente</a:t>
            </a:r>
          </a:p>
          <a:p>
            <a:pPr lvl="0" indent="-342900" marL="342900">
              <a:buAutoNum type="arabicPeriod"/>
            </a:pPr>
            <a:r>
              <a:rPr b="1"/>
              <a:t>Crear Servicio</a:t>
            </a:r>
            <a:r>
              <a:rPr/>
              <a:t> - Describir trabajo a realizar</a:t>
            </a:r>
          </a:p>
          <a:p>
            <a:pPr lvl="0" indent="-342900" marL="342900">
              <a:buAutoNum type="arabicPeriod"/>
            </a:pPr>
            <a:r>
              <a:rPr b="1"/>
              <a:t>Adjuntar Documentos/Fotos</a:t>
            </a:r>
            <a:r>
              <a:rPr/>
              <a:t> - Evidencia del trabajo</a:t>
            </a:r>
          </a:p>
          <a:p>
            <a:pPr lvl="0" indent="-342900" marL="342900">
              <a:buAutoNum type="arabicPeriod"/>
            </a:pPr>
            <a:r>
              <a:rPr b="1"/>
              <a:t>Generar Cotización</a:t>
            </a:r>
            <a:r>
              <a:rPr/>
              <a:t> - Agregar ítems y precios</a:t>
            </a:r>
          </a:p>
          <a:p>
            <a:pPr lvl="0" indent="-342900" marL="342900">
              <a:buAutoNum type="arabicPeriod"/>
            </a:pPr>
            <a:r>
              <a:rPr b="1"/>
              <a:t>Generar PDF y Enviar</a:t>
            </a:r>
            <a:r>
              <a:rPr/>
              <a:t> - Documento profesional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Demostración en Vivo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 que vamos a mostrar:</a:t>
            </a:r>
          </a:p>
          <a:p>
            <a:pPr lvl="0" indent="-342900" marL="342900">
              <a:buAutoNum type="arabicPeriod"/>
            </a:pPr>
            <a:r>
              <a:rPr/>
              <a:t>Crear un cliente nuevo</a:t>
            </a:r>
          </a:p>
          <a:p>
            <a:pPr lvl="0" indent="-342900" marL="342900">
              <a:buAutoNum type="arabicPeriod"/>
            </a:pPr>
            <a:r>
              <a:rPr/>
              <a:t>Registrar su vehículo</a:t>
            </a:r>
          </a:p>
          <a:p>
            <a:pPr lvl="0" indent="-342900" marL="342900">
              <a:buAutoNum type="arabicPeriod"/>
            </a:pPr>
            <a:r>
              <a:rPr/>
              <a:t>Generar una orden de servicio</a:t>
            </a:r>
          </a:p>
          <a:p>
            <a:pPr lvl="0" indent="-342900" marL="342900">
              <a:buAutoNum type="arabicPeriod"/>
            </a:pPr>
            <a:r>
              <a:rPr/>
              <a:t>Crear cotización con múltiples ítems</a:t>
            </a:r>
          </a:p>
          <a:p>
            <a:pPr lvl="0" indent="-342900" marL="342900">
              <a:buAutoNum type="arabicPeriod"/>
            </a:pPr>
            <a:r>
              <a:rPr/>
              <a:t>Generar PDF profesional</a:t>
            </a:r>
          </a:p>
          <a:p>
            <a:pPr lvl="0" indent="-342900" marL="342900">
              <a:buAutoNum type="arabicPeriod"/>
            </a:pPr>
            <a:r>
              <a:rPr/>
              <a:t>Cambiar estado de cotización</a:t>
            </a:r>
          </a:p>
          <a:p>
            <a:pPr lvl="0" indent="0" marL="0">
              <a:buNone/>
            </a:pPr>
            <a:r>
              <a:rPr b="1"/>
              <a:t>Tiempo estimado:</a:t>
            </a:r>
            <a:r>
              <a:rPr/>
              <a:t> 8-10 minutos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Pruebas Realizadas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Validación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Tipos de pruebas:</a:t>
            </a:r>
          </a:p>
          <a:p>
            <a:pPr lvl="0"/>
            <a:r>
              <a:rPr/>
              <a:t>Pruebas funcionales por módulo</a:t>
            </a:r>
          </a:p>
          <a:p>
            <a:pPr lvl="0"/>
            <a:r>
              <a:rPr/>
              <a:t>Pruebas de integración (flujo completo)</a:t>
            </a:r>
          </a:p>
          <a:p>
            <a:pPr lvl="0"/>
            <a:r>
              <a:rPr/>
              <a:t>Pruebas de validación de formularios</a:t>
            </a:r>
          </a:p>
          <a:p>
            <a:pPr lvl="0"/>
            <a:r>
              <a:rPr/>
              <a:t>Pruebas de generación de PDF</a:t>
            </a:r>
          </a:p>
          <a:p>
            <a:pPr lvl="0"/>
            <a:r>
              <a:rPr/>
              <a:t>Pruebas de carga de archivos</a:t>
            </a:r>
          </a:p>
          <a:p>
            <a:pPr lvl="0" indent="0" marL="0">
              <a:buNone/>
            </a:pPr>
            <a:r>
              <a:rPr b="1"/>
              <a:t>Resultados:</a:t>
            </a:r>
          </a:p>
          <a:p>
            <a:pPr lvl="0"/>
            <a:r>
              <a:rPr/>
              <a:t>Todos los casos principales: OK</a:t>
            </a:r>
          </a:p>
          <a:p>
            <a:pPr lvl="0"/>
            <a:r>
              <a:rPr/>
              <a:t>Validaciones funcionando correctamente</a:t>
            </a:r>
          </a:p>
          <a:p>
            <a:pPr lvl="0"/>
            <a:r>
              <a:rPr/>
              <a:t>Cálculos automáticos verificados</a:t>
            </a:r>
          </a:p>
          <a:p>
            <a:pPr lvl="0" indent="0" marL="0">
              <a:buNone/>
            </a:pPr>
            <a:r>
              <a:rPr b="1"/>
              <a:t>Responsable:</a:t>
            </a:r>
            <a:r>
              <a:rPr/>
              <a:t> Persona 1 - Pruebas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Instalación y Despliegue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Cómo Instalar 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Requisitos:</a:t>
            </a:r>
          </a:p>
          <a:p>
            <a:pPr lvl="0"/>
            <a:r>
              <a:rPr/>
              <a:t>Python 3.13+</a:t>
            </a:r>
          </a:p>
          <a:p>
            <a:pPr lvl="0"/>
            <a:r>
              <a:rPr/>
              <a:t>MySQL 8.0</a:t>
            </a:r>
          </a:p>
          <a:p>
            <a:pPr lvl="0"/>
            <a:r>
              <a:rPr/>
              <a:t>Navegador web moderno</a:t>
            </a:r>
          </a:p>
          <a:p>
            <a:pPr lvl="0" indent="0" marL="0">
              <a:buNone/>
            </a:pPr>
            <a:r>
              <a:rPr b="1"/>
              <a:t>Pasos:</a:t>
            </a:r>
          </a:p>
          <a:p>
            <a:pPr lvl="0" indent="-342900" marL="342900">
              <a:buAutoNum type="arabicPeriod"/>
            </a:pPr>
            <a:r>
              <a:rPr/>
              <a:t>Clonar repositorio</a:t>
            </a:r>
          </a:p>
          <a:p>
            <a:pPr lvl="0" indent="-342900" marL="342900">
              <a:buAutoNum type="arabicPeriod"/>
            </a:pPr>
            <a:r>
              <a:rPr/>
              <a:t>Crear entorno virtual</a:t>
            </a:r>
          </a:p>
          <a:p>
            <a:pPr lvl="0" indent="-342900" marL="342900">
              <a:buAutoNum type="arabicPeriod"/>
            </a:pPr>
            <a:r>
              <a:rPr/>
              <a:t>Instalar dependencias</a:t>
            </a:r>
          </a:p>
          <a:p>
            <a:pPr lvl="0" indent="-342900" marL="342900">
              <a:buAutoNum type="arabicPeriod"/>
            </a:pPr>
            <a:r>
              <a:rPr/>
              <a:t>Configurar base de datos</a:t>
            </a:r>
          </a:p>
          <a:p>
            <a:pPr lvl="0" indent="-342900" marL="342900">
              <a:buAutoNum type="arabicPeriod"/>
            </a:pPr>
            <a:r>
              <a:rPr/>
              <a:t>Ejecutar migraciones</a:t>
            </a:r>
          </a:p>
          <a:p>
            <a:pPr lvl="0" indent="-342900" marL="342900">
              <a:buAutoNum type="arabicPeriod"/>
            </a:pPr>
            <a:r>
              <a:rPr/>
              <a:t>Crear superusuario</a:t>
            </a:r>
          </a:p>
          <a:p>
            <a:pPr lvl="0" indent="-342900" marL="342900">
              <a:buAutoNum type="arabicPeriod"/>
            </a:pPr>
            <a:r>
              <a:rPr/>
              <a:t>Ejecutar servidor</a:t>
            </a:r>
          </a:p>
          <a:p>
            <a:pPr lvl="0" indent="0" marL="0">
              <a:buNone/>
            </a:pPr>
            <a:r>
              <a:rPr b="1"/>
              <a:t>Responsable:</a:t>
            </a:r>
            <a:r>
              <a:rPr/>
              <a:t> Persona 2 - Instalación y entorno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Mantención y Futuro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 de Mantención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Mantención Correctiva:</a:t>
            </a:r>
          </a:p>
          <a:p>
            <a:pPr lvl="0"/>
            <a:r>
              <a:rPr/>
              <a:t>Corrección de bugs detectados</a:t>
            </a:r>
          </a:p>
          <a:p>
            <a:pPr lvl="0" indent="0" marL="0">
              <a:buNone/>
            </a:pPr>
            <a:r>
              <a:rPr b="1"/>
              <a:t>Mantención Preventiva:</a:t>
            </a:r>
          </a:p>
          <a:p>
            <a:pPr lvl="0"/>
            <a:r>
              <a:rPr/>
              <a:t>Actualización de dependencias</a:t>
            </a:r>
          </a:p>
          <a:p>
            <a:pPr lvl="0"/>
            <a:r>
              <a:rPr/>
              <a:t>Backups periódicos</a:t>
            </a:r>
          </a:p>
          <a:p>
            <a:pPr lvl="0" indent="0" marL="0">
              <a:buNone/>
            </a:pPr>
            <a:r>
              <a:rPr b="1"/>
              <a:t>Mantención Adaptativa:</a:t>
            </a:r>
          </a:p>
          <a:p>
            <a:pPr lvl="0"/>
            <a:r>
              <a:rPr/>
              <a:t>Nuevos campos o módulos</a:t>
            </a:r>
          </a:p>
          <a:p>
            <a:pPr lvl="0" indent="0" marL="0">
              <a:buNone/>
            </a:pPr>
            <a:r>
              <a:rPr b="1"/>
              <a:t>Mantención Perfectiva:</a:t>
            </a:r>
          </a:p>
          <a:p>
            <a:pPr lvl="0"/>
            <a:r>
              <a:rPr/>
              <a:t>Mejoras de rendimiento</a:t>
            </a:r>
          </a:p>
          <a:p>
            <a:pPr lvl="0"/>
            <a:r>
              <a:rPr/>
              <a:t>Optimización de interfaz</a:t>
            </a:r>
          </a:p>
          <a:p>
            <a:pPr lvl="0" indent="0" marL="0">
              <a:buNone/>
            </a:pPr>
            <a:r>
              <a:rPr b="1"/>
              <a:t>Responsable:</a:t>
            </a:r>
            <a:r>
              <a:rPr/>
              <a:t> Persona 4 - Mantención y cambios futuros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Cambios Futuros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Próximas Funcionalidades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Mejoras planificadas:</a:t>
            </a:r>
          </a:p>
          <a:p>
            <a:pPr lvl="0"/>
            <a:r>
              <a:rPr/>
              <a:t>Dashboard con estadísticas y gráficos</a:t>
            </a:r>
          </a:p>
          <a:p>
            <a:pPr lvl="0"/>
            <a:r>
              <a:rPr/>
              <a:t>Reportes de servicios por período</a:t>
            </a:r>
          </a:p>
          <a:p>
            <a:pPr lvl="0"/>
            <a:r>
              <a:rPr/>
              <a:t>Sistema de inventario de repuestos</a:t>
            </a:r>
          </a:p>
          <a:p>
            <a:pPr lvl="0"/>
            <a:r>
              <a:rPr/>
              <a:t>Notificaciones automáticas</a:t>
            </a:r>
          </a:p>
          <a:p>
            <a:pPr lvl="0"/>
            <a:r>
              <a:rPr/>
              <a:t>App móvil nativa</a:t>
            </a:r>
          </a:p>
          <a:p>
            <a:pPr lvl="0"/>
            <a:r>
              <a:rPr/>
              <a:t>Integración con pagos online</a:t>
            </a:r>
          </a:p>
          <a:p>
            <a:pPr lvl="0"/>
            <a:r>
              <a:rPr/>
              <a:t>Recordatorios de mantención</a:t>
            </a:r>
          </a:p>
          <a:p>
            <a:pPr lvl="0"/>
            <a:r>
              <a:rPr/>
              <a:t>Sistema de citas online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Equipo y Responsabilidades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Distribución del Trabajo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Juan Pablo Maldonado Huenulef</a:t>
            </a:r>
          </a:p>
          <a:p>
            <a:pPr lvl="0"/>
            <a:r>
              <a:rPr/>
              <a:t>Pruebas y validación</a:t>
            </a:r>
          </a:p>
          <a:p>
            <a:pPr lvl="0" indent="0" marL="0">
              <a:buNone/>
            </a:pPr>
            <a:r>
              <a:rPr b="1"/>
              <a:t>Maximiliano Javier Beltrán Barrueto</a:t>
            </a:r>
          </a:p>
          <a:p>
            <a:pPr lvl="0"/>
            <a:r>
              <a:rPr/>
              <a:t>Instalación y entorno</a:t>
            </a:r>
          </a:p>
          <a:p>
            <a:pPr lvl="0" indent="0" marL="0">
              <a:buNone/>
            </a:pPr>
            <a:r>
              <a:rPr b="1"/>
              <a:t>Marcos Ignacio Villarroel Solís</a:t>
            </a:r>
          </a:p>
          <a:p>
            <a:pPr lvl="0"/>
            <a:r>
              <a:rPr/>
              <a:t>Documentación y demo</a:t>
            </a:r>
          </a:p>
          <a:p>
            <a:pPr lvl="0" indent="0" marL="0">
              <a:buNone/>
            </a:pPr>
            <a:r>
              <a:rPr b="1"/>
              <a:t>Benjamín Manuel Ignacio Moreira Arias</a:t>
            </a:r>
          </a:p>
          <a:p>
            <a:pPr lvl="0"/>
            <a:r>
              <a:rPr/>
              <a:t>Mantención y coordinación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Lecciones Aprendidas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Aprendizajes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Técnicos:</a:t>
            </a:r>
          </a:p>
          <a:p>
            <a:pPr lvl="0"/>
            <a:r>
              <a:rPr/>
              <a:t>Implementación de patrón MVT con Django</a:t>
            </a:r>
          </a:p>
          <a:p>
            <a:pPr lvl="0"/>
            <a:r>
              <a:rPr/>
              <a:t>Gestión de relaciones en base de datos</a:t>
            </a:r>
          </a:p>
          <a:p>
            <a:pPr lvl="0"/>
            <a:r>
              <a:rPr/>
              <a:t>Validaciones frontend y backend</a:t>
            </a:r>
          </a:p>
          <a:p>
            <a:pPr lvl="0"/>
            <a:r>
              <a:rPr/>
              <a:t>Generación dinámica de PDFs</a:t>
            </a:r>
          </a:p>
          <a:p>
            <a:pPr lvl="0" indent="0" marL="0">
              <a:buNone/>
            </a:pPr>
            <a:r>
              <a:rPr b="1"/>
              <a:t>Metodológicos:</a:t>
            </a:r>
          </a:p>
          <a:p>
            <a:pPr lvl="0"/>
            <a:r>
              <a:rPr/>
              <a:t>Trabajo en equipo distribuido</a:t>
            </a:r>
          </a:p>
          <a:p>
            <a:pPr lvl="0"/>
            <a:r>
              <a:rPr/>
              <a:t>Gestión por historias de usuario</a:t>
            </a:r>
          </a:p>
          <a:p>
            <a:pPr lvl="0"/>
            <a:r>
              <a:rPr/>
              <a:t>Importancia de la documentación</a:t>
            </a:r>
          </a:p>
          <a:p>
            <a:pPr lvl="0" indent="0" marL="0">
              <a:buNone/>
            </a:pPr>
            <a:r>
              <a:rPr b="1"/>
              <a:t>Profesionales:</a:t>
            </a:r>
          </a:p>
          <a:p>
            <a:pPr lvl="0"/>
            <a:r>
              <a:rPr/>
              <a:t>Comunicación efectiva</a:t>
            </a:r>
          </a:p>
          <a:p>
            <a:pPr lvl="0"/>
            <a:r>
              <a:rPr/>
              <a:t>Cumplimiento de plazos</a:t>
            </a:r>
          </a:p>
          <a:p>
            <a:pPr lvl="0"/>
            <a:r>
              <a:rPr/>
              <a:t>Adaptación a cambios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Conclusiones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Logros Alcanzados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Logros:</a:t>
            </a:r>
          </a:p>
          <a:p>
            <a:pPr lvl="0"/>
            <a:r>
              <a:rPr/>
              <a:t>Sistema funcional y completo</a:t>
            </a:r>
          </a:p>
          <a:p>
            <a:pPr lvl="0"/>
            <a:r>
              <a:rPr/>
              <a:t>Interfaz intuitiva y profesional</a:t>
            </a:r>
          </a:p>
          <a:p>
            <a:pPr lvl="0"/>
            <a:r>
              <a:rPr/>
              <a:t>Documentación exhaustiva</a:t>
            </a:r>
          </a:p>
          <a:p>
            <a:pPr lvl="0"/>
            <a:r>
              <a:rPr/>
              <a:t>Código limpio y mantenible</a:t>
            </a:r>
          </a:p>
          <a:p>
            <a:pPr lvl="0"/>
            <a:r>
              <a:rPr/>
              <a:t>Pruebas exitosas</a:t>
            </a:r>
          </a:p>
          <a:p>
            <a:pPr lvl="0" indent="0" marL="0">
              <a:buNone/>
            </a:pPr>
            <a:r>
              <a:rPr b="1"/>
              <a:t>Valor del proyecto:</a:t>
            </a:r>
          </a:p>
          <a:p>
            <a:pPr lvl="0"/>
            <a:r>
              <a:rPr/>
              <a:t>Solución real a problema de talleres</a:t>
            </a:r>
          </a:p>
          <a:p>
            <a:pPr lvl="0"/>
            <a:r>
              <a:rPr/>
              <a:t>Automatización de procesos</a:t>
            </a:r>
          </a:p>
          <a:p>
            <a:pPr lvl="0"/>
            <a:r>
              <a:rPr/>
              <a:t>Base sólida para ampliaciones</a:t>
            </a:r>
          </a:p>
          <a:p>
            <a:pPr lvl="0" indent="0" marL="0">
              <a:buNone/>
            </a:pPr>
            <a:r>
              <a:rPr b="1"/>
              <a:t>Cumplimiento:</a:t>
            </a:r>
          </a:p>
          <a:p>
            <a:pPr lvl="0"/>
            <a:r>
              <a:rPr/>
              <a:t>Todos los criterios de la rúbrica cumplidos</a:t>
            </a:r>
          </a:p>
          <a:p>
            <a:pPr lvl="0"/>
            <a:r>
              <a:rPr/>
              <a:t>Sistema listo para producción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¿Preguntas?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Contacto del Equipo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Email:</a:t>
            </a:r>
            <a:r>
              <a:rPr/>
              <a:t> soporte.tallermec@gmail.com</a:t>
            </a:r>
          </a:p>
          <a:p>
            <a:pPr lvl="0" indent="0" marL="0">
              <a:buNone/>
            </a:pPr>
            <a:r>
              <a:rPr b="1"/>
              <a:t>Teléfono:</a:t>
            </a:r>
            <a:r>
              <a:rPr/>
              <a:t> +56 9 8765 4321</a:t>
            </a:r>
          </a:p>
          <a:p>
            <a:pPr lvl="0" indent="0" marL="0">
              <a:buNone/>
            </a:pPr>
            <a:r>
              <a:rPr b="1"/>
              <a:t>Repositorio:</a:t>
            </a:r>
            <a:r>
              <a:rPr/>
              <a:t> GitHub: Cookeing/taller_mecanico</a:t>
            </a:r>
          </a:p>
          <a:p>
            <a:pPr lvl="0" indent="0" marL="0">
              <a:buNone/>
            </a:pPr>
            <a:r>
              <a:rPr b="1"/>
              <a:t>Agradecimientos:</a:t>
            </a:r>
            <a:r>
              <a:rPr/>
              <a:t> Gracias por su atención.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Taller Mecánico</dc:title>
  <dc:creator>Juan Pablo Maldonado Huenulef; Maximiliano Javier Beltrán Barrueto; Marcos Ignacio Villarroel Solís; Benjamín Manuel Ignacio Moreira Arias</dc:creator>
  <cp:keywords/>
  <dcterms:created xsi:type="dcterms:W3CDTF">2025-12-14T21:31:52Z</dcterms:created>
  <dcterms:modified xsi:type="dcterms:W3CDTF">2025-12-14T21:31:52Z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Diciembre 2025</vt:lpwstr>
  </property>
  <property fmtid="{D5CDD505-2E9C-101B-9397-08002B2CF9AE}" pid="3" name="subtitle">
    <vt:lpwstr>Proyecto de Desarrollo de Software</vt:lpwstr>
  </property>
</Properties>
</file>